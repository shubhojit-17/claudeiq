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DELOITTE CAPSTONE 2027  ·  STUDENT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14884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Contract Intelligence and Compliance Assistant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66928" y="402336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assistant that reads long contracts in minutes, flags risky clauses and tracks key dates.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47548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DarkTrace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 University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Shubhojit Sarkar  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shubhojitsarkar50@gmail.com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Shaik Khadeeja Sayeed  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shaikhkhadeeja9@gmail.com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Shreeya Nagaraj  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shreeya17n@gmail.com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Sindhu S B  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sindhusb2004@gmail.com</a:t>
            </a:r>
            <a:endParaRPr lang="en-US" sz="13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DADA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Yalavarthi Gnana Deepika   </a:t>
            </a:r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gnanadeepikay12@gmail.com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USE CASE · SNAPSHOT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in one look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one 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AI assistant that reads and reviews contracts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Who it helps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Legal, procurement, finance and founders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Flags risk, tracks key dates and summarizes clearly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now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can finally read messy legal language well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" y="5870448"/>
            <a:ext cx="54864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slow manual contract review into fast and auditable AI-assisted work.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pile up faster than people can read them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are still read by hand so risks slip through.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complex contract can take hours to review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353872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3657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9319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missed clause or auto-renewal can cost lakhs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459028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98348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of obligations across live contracts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564184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IMPLICATIONS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to leave this unsolved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95528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lost to bad contracts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7784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6384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4672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time on low-risk clauses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6928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5528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Minutes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33816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read a contract not days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AND 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contract review time sharply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miss a renewal or deadline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risk visible and explainable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one compliance standard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time cut by 60-70%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of key dates captured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 linked to source text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missed high-risk clauses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OF COMPLEXITY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of complexity: moderate to high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part is reading legal language reliably.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309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09360" y="288036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non-standard wording that models can misread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353872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3657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393192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flag cites exact text pulled from the document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459028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4709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PRIVACY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498348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long confidential files need careful handling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5641848"/>
            <a:ext cx="5349240" cy="5486"/>
          </a:xfrm>
          <a:prstGeom prst="rect">
            <a:avLst/>
          </a:prstGeom>
          <a:solidFill>
            <a:srgbClr val="26262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solution needs to deliver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requirements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requirements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risky and non-standard clauses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renewals, expiries and obligations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 contracts in plain language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against a compliance checklist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upload and storage for PDF and Word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text extraction including scans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detection grounded in source text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and an audit trail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VERSATILITY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engine, many industries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ClauseIQ helps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Banking and finance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Screen loan and vendor terms against policy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 compliance clauses and renewal dates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estate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 leases and flag unusual terms fast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 and startups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NDAs, MSAs and SaaS contracts quickly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" y="5870448"/>
            <a:ext cx="54864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Retarget to a new sector by swapping the checklist not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assuming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5603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access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40480" y="2560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 like CUAD plus sample contracts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3108960"/>
            <a:ext cx="11064240" cy="548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273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quality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840480" y="32735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PDF or Word with OCR for scans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66928" y="3822192"/>
            <a:ext cx="11064240" cy="548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867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840480" y="39867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Assists reviewers and does not replace legal sign-off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535424"/>
            <a:ext cx="11064240" cy="548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7000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840480" y="470001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first with regional languages later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66928" y="5248656"/>
            <a:ext cx="11064240" cy="548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4132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840480" y="541324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cloud on a student budget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66928" y="5961888"/>
            <a:ext cx="11064240" cy="5486"/>
          </a:xfrm>
          <a:prstGeom prst="rect">
            <a:avLst/>
          </a:prstGeom>
          <a:solidFill>
            <a:srgbClr val="242424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DESIGN AND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ClauseIQ works end to end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3464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4023360"/>
            <a:ext cx="29596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clean text from PDF or Word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67784" y="283464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6384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6384" y="35661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4672" y="4023360"/>
            <a:ext cx="29596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into clauses, flag risks and pull dates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86928" y="2834640"/>
            <a:ext cx="3453384" cy="2011680"/>
          </a:xfrm>
          <a:prstGeom prst="roundRect">
            <a:avLst>
              <a:gd name="adj" fmla="val 4091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5528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5528" y="3566160"/>
            <a:ext cx="2996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33816" y="4023360"/>
            <a:ext cx="295960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a summary, alerts and a live tracker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layered architecture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does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Upload, dashboard, summaries and alerts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Intelligence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plus RAG for grounded clause analysis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extraction, OCR and clause splitting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storage for contracts and checklists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" y="5870448"/>
            <a:ext cx="54864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design so any part can improve without breaking the rest.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realistic ten-week build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3401568"/>
            <a:ext cx="10515600" cy="10973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7" name="Shape 5"/>
          <p:cNvSpPr/>
          <p:nvPr/>
        </p:nvSpPr>
        <p:spPr>
          <a:xfrm>
            <a:off x="1465783" y="3319272"/>
            <a:ext cx="164592" cy="164592"/>
          </a:xfrm>
          <a:prstGeom prst="ellipse">
            <a:avLst/>
          </a:prstGeom>
          <a:solidFill>
            <a:srgbClr val="86BC25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19988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1-2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Setup, data and document upload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38982" y="3319272"/>
            <a:ext cx="164592" cy="164592"/>
          </a:xfrm>
          <a:prstGeom prst="ellipse">
            <a:avLst/>
          </a:prstGeom>
          <a:solidFill>
            <a:srgbClr val="111111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1838" y="2880360"/>
            <a:ext cx="19988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3-4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76118" y="3611880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 detection and risk flags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12180" y="3319272"/>
            <a:ext cx="164592" cy="164592"/>
          </a:xfrm>
          <a:prstGeom prst="ellipse">
            <a:avLst/>
          </a:prstGeom>
          <a:solidFill>
            <a:srgbClr val="111111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5037" y="2880360"/>
            <a:ext cx="19988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5-6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49317" y="3611880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Summaries, dates and checklist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85378" y="3319272"/>
            <a:ext cx="164592" cy="164592"/>
          </a:xfrm>
          <a:prstGeom prst="ellipse">
            <a:avLst/>
          </a:prstGeom>
          <a:solidFill>
            <a:srgbClr val="111111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8235" y="2880360"/>
            <a:ext cx="19988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7-8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22515" y="3611880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reminders and access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558577" y="3319272"/>
            <a:ext cx="164592" cy="164592"/>
          </a:xfrm>
          <a:prstGeom prst="ellipse">
            <a:avLst/>
          </a:prstGeom>
          <a:solidFill>
            <a:srgbClr val="111111"/>
          </a:solidFill>
          <a:ln w="15875">
            <a:solidFill>
              <a:srgbClr val="86BC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41434" y="2880360"/>
            <a:ext cx="199887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 9-10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95714" y="3611880"/>
            <a:ext cx="209031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Testing, security and polish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PLAN · ROLES AND MILESTONES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 and what we ship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and roles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backend: ingestion, storage and APIs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lead: clause detection and grounding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dashboard and tracker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Everyone: testing, security and the demo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Contracts parse cleanly (Wk 2)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flags on real samples (Wk 4)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analysis works (Wk 6)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Judge-ready demo (Wk 10)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ClauseIQ different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17520"/>
          </a:xfrm>
          <a:prstGeom prst="roundRect">
            <a:avLst>
              <a:gd name="adj" fmla="val 272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2560320"/>
            <a:ext cx="5349240" cy="6400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usual way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ClauseIQ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every contract by hand, keep dates in scattered sheets and hope nothing was missed. Slow and error-prone.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429000"/>
            <a:ext cx="4800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AI that cites the clause it flags, a checklist that enforces policy and one live tracker for every obligation.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FEASIBILITY, FLEXIBILITY AND SCALABILITY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to build and easy to grow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 and scalability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software on proven AI and cloud tools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datasets make demos realistic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pay-as-you-go running cost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version in about ten weeks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by adding cloud resources not code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industry means only a new checklist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parts improve independently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from one team to an enterprise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AND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handle sensitive contracts safely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6243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Encryption for contracts in transit and at rest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264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2826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to sensitive documents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922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9410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 of every review and change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45811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privacy norms like DPDP and GDPR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52395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5257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grounded in source text to avoid made-up output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TECH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first with licensed AI where it counts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and NLP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spaCy, Hugging Face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and 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Llama or GPT API with a vector DB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 and PostgreSQL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and Tailwind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source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or GCP free and low tiers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Licensed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" y="5870448"/>
            <a:ext cx="54864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by default with a licensed LLM API only where it earns its place.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TECHNOLOGY AND INTEGRATION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AI that fits existing workflows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2560320"/>
            <a:ext cx="5349240" cy="3063240"/>
          </a:xfrm>
          <a:prstGeom prst="roundRect">
            <a:avLst>
              <a:gd name="adj" fmla="val 2687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technology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0" y="27889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to read and summarize contracts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so answers stay grounded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for clause and entity detection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and cited risk flags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333756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APIs for existing workflows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Connectors for Drive and SharePoint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systems teams already use</a:t>
            </a:r>
            <a:endParaRPr lang="en-US" sz="1400" dirty="0"/>
          </a:p>
          <a:p>
            <a:pPr marL="203200" indent="-2032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Sits alongside current processes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ClauseIQ can deliver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95528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first-pass review time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7784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6384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614672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and deadline monitoring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86928" y="2880360"/>
            <a:ext cx="3453384" cy="1828800"/>
          </a:xfrm>
          <a:prstGeom prst="roundRect">
            <a:avLst>
              <a:gd name="adj" fmla="val 4500"/>
            </a:avLst>
          </a:prstGeom>
          <a:solidFill>
            <a:srgbClr val="14141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5528" y="3154680"/>
            <a:ext cx="299618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433816" y="4069080"/>
            <a:ext cx="29596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sectors that sign contracts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EFFORT, COST (INR) AND ROI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Effort, cost and return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5212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86BC2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7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effort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1,200-1,500 hrs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team over ten weeks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Cloud credits and LLM API budget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Running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~₹15k-40k / mo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with usage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 costs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Planned for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OCR, storage and API usage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CACA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Saved hours and avoided disputes beat cost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24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" y="5870448"/>
            <a:ext cx="54864" cy="457200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EDED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 to run and quick to pay back; one avoided dispute covers a year.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3737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ClauseIQ  ·  Deloitte Capstone 2027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CLAUSEIQ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ClauseIQ deserves the next round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76072" y="2231136"/>
            <a:ext cx="640080" cy="41148"/>
          </a:xfrm>
          <a:prstGeom prst="rect">
            <a:avLst/>
          </a:prstGeom>
          <a:solidFill>
            <a:srgbClr val="86BC25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62432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and costly problem every business knows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326440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328269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Squarely in Deloitte's risk and compliance world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392277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9410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demo: upload a contract and watch it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" y="4581144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459943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software, low cost and realistic to build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" y="52395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B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5257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CA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 that stretches across industries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2026-07-04T13:30:42Z</dcterms:created>
  <dcterms:modified xsi:type="dcterms:W3CDTF">2026-07-04T13:30:42Z</dcterms:modified>
</cp:coreProperties>
</file>