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60056" y="1797546"/>
            <a:ext cx="367188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0A5FA"/>
                </a:solidFill>
                <a:latin typeface="Inter SemiBold"/>
              </a:rPr>
              <a:t>DELOITTE CAPSTONE 2027 | TEAM DARKTRACE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437" y="2188071"/>
            <a:ext cx="9001125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ClauseIQ: AI Contract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925192"/>
            <a:ext cx="66675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CBD5E1"/>
                </a:solidFill>
                <a:latin typeface="Inter"/>
              </a:rPr>
              <a:t>Transforming slow, manual contract reviews into fast, auditable AI workflows.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0" y="5022353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THE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The Cost of Manual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4000" y="3186112"/>
            <a:ext cx="266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2563EB"/>
                </a:solidFill>
                <a:latin typeface="Space Grotesk"/>
              </a:rPr>
              <a:t>&gt;50%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000" y="4291012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 Medium"/>
              </a:rPr>
              <a:t>Time wasted on standard, low-risk clauses.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351" y="3186112"/>
            <a:ext cx="266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2563EB"/>
                </a:solidFill>
                <a:latin typeface="Space Grotesk"/>
              </a:rPr>
              <a:t>~9%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351" y="4291012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 Medium"/>
              </a:rPr>
              <a:t>Annual revenue lost to poor contract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0701" y="3186112"/>
            <a:ext cx="2667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EF4444"/>
                </a:solidFill>
                <a:latin typeface="Space Grotesk"/>
              </a:rPr>
              <a:t>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0701" y="4291012"/>
            <a:ext cx="266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 Medium"/>
              </a:rPr>
              <a:t>Centralized visibility into live compliance obligations.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88121"/>
            <a:ext cx="2438400" cy="275808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735758"/>
            <a:ext cx="2438400" cy="24628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735758"/>
            <a:ext cx="2438400" cy="24628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2588121"/>
            <a:ext cx="2438400" cy="27580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INTRODUCING CLAUSEIQ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Fast, Auditable, Grounded AI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969121"/>
            <a:ext cx="16764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3502521"/>
            <a:ext cx="176022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Automated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245471"/>
            <a:ext cx="16764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Reads dense language for plain-English summaries.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116758"/>
            <a:ext cx="16764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86200" y="3650158"/>
            <a:ext cx="176022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Risk Flagging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097833"/>
            <a:ext cx="16764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Screens terms against predefined industry checklists.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116758"/>
            <a:ext cx="16764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9400" y="3650158"/>
            <a:ext cx="176022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Grounded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97833"/>
            <a:ext cx="16764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Zero hallucinations. Exact source text citations via RAG.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2969121"/>
            <a:ext cx="16764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72600" y="3502521"/>
            <a:ext cx="176022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Lifecycle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245471"/>
            <a:ext cx="16764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Live dashboard for renewals, expiries, and obligations.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02298"/>
            <a:ext cx="289560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749998"/>
            <a:ext cx="2895600" cy="495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12701"/>
            <a:ext cx="28956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0A5FA"/>
                </a:solidFill>
                <a:latin typeface="Inter SemiBold"/>
              </a:rPr>
              <a:t>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88926"/>
            <a:ext cx="304038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2400" i="0" u="none">
                <a:solidFill>
                  <a:srgbClr val="FFFFFF"/>
                </a:solidFill>
                <a:latin typeface="Space Grotesk"/>
              </a:rPr>
              <a:t>Unified Contract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40248"/>
            <a:ext cx="28956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Built for Legal, Procurement, and Finance teams to operate from a single source of truth.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0"/>
            <a:ext cx="8382000" cy="6858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273748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21448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85925"/>
            <a:ext cx="10668000" cy="981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95600"/>
            <a:ext cx="10668000" cy="981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05275"/>
            <a:ext cx="10668000" cy="1000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334000"/>
            <a:ext cx="10668000" cy="981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700" y="1914525"/>
            <a:ext cx="7886700" cy="523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3124200"/>
            <a:ext cx="3867150" cy="523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0" y="3124200"/>
            <a:ext cx="3867150" cy="523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4700" y="4333875"/>
            <a:ext cx="2514600" cy="542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4333875"/>
            <a:ext cx="2533650" cy="5429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7750" y="4333875"/>
            <a:ext cx="2533650" cy="5429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700" y="5562600"/>
            <a:ext cx="3867150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0" y="5562600"/>
            <a:ext cx="3867150" cy="523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Modular Four-Layer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2052637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1. Interface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3262312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2. Processing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" y="4481512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3. Intelligence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5700712"/>
            <a:ext cx="2095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4. Data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362" y="3352800"/>
            <a:ext cx="4719637" cy="21828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DATA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Managing Relational &amp; Semantic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1237" y="1990725"/>
            <a:ext cx="9525" cy="42576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90725"/>
            <a:ext cx="49556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Relational (PostgreSQL)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400300"/>
            <a:ext cx="47196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647950"/>
            <a:ext cx="47196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Stores structured audit trails, strict access controls, and operational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0362" y="1990725"/>
            <a:ext cx="49556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Semantic (Vector DB)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10362" y="2400300"/>
            <a:ext cx="471963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0362" y="2647950"/>
            <a:ext cx="47196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Stores high-dimensional text embeddings enabling RAG and semantic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352800"/>
            <a:ext cx="4719637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05200"/>
            <a:ext cx="44148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 SemiBold"/>
              </a:rPr>
              <a:t>Users &amp; Contract Access (RLS)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962400"/>
            <a:ext cx="4719637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000" y="3352800"/>
            <a:ext cx="38100" cy="495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4148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 SemiBold"/>
              </a:rPr>
              <a:t>Contract Metadata &amp; 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4572000"/>
            <a:ext cx="4719637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3962400"/>
            <a:ext cx="38100" cy="495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24400"/>
            <a:ext cx="44148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 SemiBold"/>
              </a:rPr>
              <a:t>Extracted Clauses &amp; Risk Flags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5181600"/>
            <a:ext cx="4719637" cy="4953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2000" y="4572000"/>
            <a:ext cx="38100" cy="495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34000"/>
            <a:ext cx="4414837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Inter SemiBold"/>
              </a:rPr>
              <a:t>Key Dates &amp; Milestones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2000" y="5181600"/>
            <a:ext cx="38100" cy="4953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006" y="3667125"/>
            <a:ext cx="51435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24687" y="4276725"/>
            <a:ext cx="40909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66534"/>
                </a:solidFill>
                <a:latin typeface="Inter"/>
              </a:rPr>
              <a:t>Document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4687" y="4581525"/>
            <a:ext cx="409098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15803D"/>
                </a:solidFill>
                <a:latin typeface="Inter"/>
              </a:rPr>
              <a:t>Vector search maps user queries to exact contract clauses instantly, powering hallucination-free AI generation.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End-to-End Workflow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2947987"/>
            <a:ext cx="800100" cy="800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3976687"/>
            <a:ext cx="28003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01.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386262"/>
            <a:ext cx="2667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Users upload digital files. System performs OCR and text sanitization.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0" y="2947987"/>
            <a:ext cx="800100" cy="800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95825" y="3976687"/>
            <a:ext cx="28003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02.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0" y="4386262"/>
            <a:ext cx="2667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Text embedded into Vector DB. LLM evaluates against custom compliance policies.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450" y="2947987"/>
            <a:ext cx="800100" cy="800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96325" y="3976687"/>
            <a:ext cx="28003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03.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4386262"/>
            <a:ext cx="2667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Dashboard populated with summaries, exact risk citations, and active deadlines.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195637"/>
            <a:ext cx="2286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195637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0" y="3195637"/>
            <a:ext cx="304800" cy="3048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333500" y="3328987"/>
            <a:ext cx="9525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8625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8625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48250" y="1114425"/>
            <a:ext cx="6381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TRUST &amp; PRIVACY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8250" y="1390650"/>
            <a:ext cx="670083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Enterprise-Grade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8250" y="2343150"/>
            <a:ext cx="6381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Inter"/>
              </a:rPr>
              <a:t>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Strict Access Control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Row-Level Security (RLS) and JWT authentication.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8250" y="3124200"/>
            <a:ext cx="6381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Inter"/>
              </a:rPr>
              <a:t>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End-to-End Encryption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TLS for transit, Server-Side Encryption (SSE) at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8250" y="3905250"/>
            <a:ext cx="6381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Inter"/>
              </a:rPr>
              <a:t>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Zero-Retention LLMs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Enterprise APIs ensure data never trains public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8250" y="4686300"/>
            <a:ext cx="63817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63EB"/>
                </a:solidFill>
                <a:latin typeface="Inter"/>
              </a:rPr>
              <a:t>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Regulatory Alignment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Architecture designed for strict DPDP and GDPR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31083"/>
            <a:ext cx="3352800" cy="198655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431083"/>
            <a:ext cx="3352800" cy="19865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431083"/>
            <a:ext cx="3352800" cy="19865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PROACTIVE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Smart Routing for Critical Deadlines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685925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Automated background scanners monitor PostgreSQL key dates, routing targeted alerts to the appropriate department.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69233"/>
            <a:ext cx="2720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3A8A"/>
                </a:solidFill>
                <a:latin typeface="Space Grotesk"/>
              </a:rPr>
              <a:t>Legal &amp; 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16908"/>
            <a:ext cx="2590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60, 30, and 7-day countdown alerts for contract expirations or auto-renewals.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869233"/>
            <a:ext cx="2720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64E3B"/>
                </a:solidFill>
                <a:latin typeface="Space Grotesk"/>
              </a:rPr>
              <a:t>Finance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316908"/>
            <a:ext cx="2590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Prompted 15 days before major payment milestones or scheduled fee escalations.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869233"/>
            <a:ext cx="272034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7F1D1D"/>
                </a:solidFill>
                <a:latin typeface="Space Grotesk"/>
              </a:rPr>
              <a:t>Compliance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316908"/>
            <a:ext cx="25908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Immediate systemic alerts if uncapped liabilities or severe risks are uploaded.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95525"/>
            <a:ext cx="457200" cy="45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950" y="2295525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900" y="2295525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851" y="2295525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609600"/>
            <a:ext cx="10668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2563EB"/>
                </a:solidFill>
                <a:latin typeface="Inter SemiBold"/>
              </a:rPr>
              <a:t>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201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10-Week Delivery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81325"/>
            <a:ext cx="2400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Weeks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362325"/>
            <a:ext cx="2286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Setup, database schemas, and OCR text ingestion pipeline.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950" y="2981325"/>
            <a:ext cx="2400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Weeks 3-4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5950" y="3362325"/>
            <a:ext cx="2286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Implement RAG pipeline, clause detection, and risk flags.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900" y="2981325"/>
            <a:ext cx="2400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Weeks 5-6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9900" y="3362325"/>
            <a:ext cx="2286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Build tracking dashboard and personalized notification engine.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851" y="2981325"/>
            <a:ext cx="24003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Weeks 7-10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851" y="3362325"/>
            <a:ext cx="2286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Security hardening, edge-case testing, and final demo prep.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119437"/>
            <a:ext cx="106680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2" y="4138612"/>
            <a:ext cx="3419475" cy="53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5752" y="2185987"/>
            <a:ext cx="3960495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4412" y="3252787"/>
            <a:ext cx="25431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6262" y="4452937"/>
            <a:ext cx="34194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CBD5E1"/>
                </a:solidFill>
                <a:latin typeface="Space Grotesk"/>
              </a:rPr>
              <a:t>Team DarkTrace | Deloitte Capstone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3716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1431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21336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1336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971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971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14475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1557337"/>
            <a:ext cx="99536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https://png.pngtree.com/thumb_back/fw800/background/20251217/pngtree-modern-tech-linkedin-cover-with-network-lines-image_20861259.webp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1757362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1933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286000"/>
            <a:ext cx="9953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https://png.pngtree.com/thumb_back/fw800/background/20260416/pngtree-modern-dark-mode-admin-dashboard-user-interface-design-with-creative-data-image_21720633.webp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638425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5753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124200"/>
            <a:ext cx="99536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https://png.pngtree.com/thumb_back/fw800/background/20260415/pngtree-digital-cybersecurity-shield-protection-icon-in-high-tech-server-room-with-image_21719500.webp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476625"/>
            <a:ext cx="99536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